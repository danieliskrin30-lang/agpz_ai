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552450"/>
            <a:ext cx="2895600" cy="2209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50" b="1">
                <a:solidFill>
                  <a:srgbClr val="BECAFF"/>
                </a:solidFill>
                <a:latin typeface="Segoe UI"/>
              </a:defRPr>
            </a:pPr>
            <a:r>
              <a:t>ИИ-ПЛАТФОРМА • АСУ ТП • КАЗАХСТАН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009650"/>
            <a:ext cx="4953000" cy="213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Предиктивная система</a:t>
            </a:r>
          </a:p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AI-PromPlatform —</a:t>
            </a:r>
          </a:p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отечественная цифровая</a:t>
            </a:r>
          </a:p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основа безотказной</a:t>
            </a:r>
          </a:p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промышленности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40" y="3448050"/>
            <a:ext cx="10096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Вибрация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96439" y="3448050"/>
            <a:ext cx="10096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Давление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39440" y="3448050"/>
            <a:ext cx="990599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Ток сети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3390" y="3448050"/>
            <a:ext cx="11811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Температура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4286250"/>
            <a:ext cx="17907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Segoe UI"/>
              </a:defRPr>
            </a:pPr>
            <a:r>
              <a:t>99.89%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4781550"/>
            <a:ext cx="1790700" cy="2476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AFBAE1"/>
                </a:solidFill>
                <a:latin typeface="Segoe UI"/>
              </a:defRPr>
            </a:pPr>
            <a:r>
              <a:t>точность ансамбля 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14550" y="4286250"/>
            <a:ext cx="17907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Segoe UI"/>
              </a:defRPr>
            </a:pPr>
            <a:r>
              <a:t>48–72 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14550" y="4781550"/>
            <a:ext cx="1790700" cy="2476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AFBAE1"/>
                </a:solidFill>
                <a:latin typeface="Segoe UI"/>
              </a:defRPr>
            </a:pPr>
            <a:r>
              <a:t>фора до отказа узла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4750" y="4286250"/>
            <a:ext cx="17907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Segoe UI"/>
              </a:defRPr>
            </a:pPr>
            <a:r>
              <a:t>24/7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4750" y="4781550"/>
            <a:ext cx="1790700" cy="2476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AFBAE1"/>
                </a:solidFill>
                <a:latin typeface="Segoe UI"/>
              </a:defRPr>
            </a:pPr>
            <a:r>
              <a:t>контроль Read-Only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0" y="4629150"/>
            <a:ext cx="1981199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6C738F"/>
                </a:solidFill>
                <a:latin typeface="Segoe UI"/>
              </a:defRPr>
            </a:pPr>
            <a:r>
              <a:t>на защите сейчас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0" y="4831080"/>
            <a:ext cx="1981199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1B1F3B"/>
                </a:solidFill>
                <a:latin typeface="Segoe UI"/>
              </a:defRPr>
            </a:pPr>
            <a:r>
              <a:t>4 узла • 0 сбоев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6153150"/>
            <a:ext cx="48768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919CC8"/>
                </a:solidFill>
                <a:latin typeface="Segoe UI"/>
              </a:defRPr>
            </a:pPr>
            <a:r>
              <a:t>МИТУ (METU) • Специальность 6B07102 «АиУ» • Искрин Д. А.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419100"/>
            <a:ext cx="213360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50" b="1">
                <a:solidFill>
                  <a:srgbClr val="3545D8"/>
                </a:solidFill>
                <a:latin typeface="Segoe UI"/>
              </a:defRPr>
            </a:pPr>
            <a:r>
              <a:t>02 • БЕЗОПАСНОЕ 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704850"/>
            <a:ext cx="107823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50" b="1">
                <a:solidFill>
                  <a:srgbClr val="1B1F3B"/>
                </a:solidFill>
                <a:latin typeface="Segoe UI"/>
              </a:defRPr>
            </a:pPr>
            <a:r>
              <a:t>AI-PromPlatform считывает потоки автоматически</a:t>
            </a:r>
          </a:p>
          <a:p>
            <a:pPr algn="l">
              <a:defRPr sz="2250" b="1">
                <a:solidFill>
                  <a:srgbClr val="1B1F3B"/>
                </a:solidFill>
                <a:latin typeface="Segoe UI"/>
              </a:defRPr>
            </a:pPr>
            <a:r>
              <a:t>и работает поверх штатной АСУ ТП / SCADA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447800"/>
            <a:ext cx="10210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6C738F"/>
                </a:solidFill>
                <a:latin typeface="Segoe UI"/>
              </a:defRPr>
            </a:pPr>
            <a:r>
              <a:t>Износ фондов РК составляет 60–66%. Единый контур от датчика цеха до раннего предупреждения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150" y="1847850"/>
            <a:ext cx="26670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50" b="1">
                <a:solidFill>
                  <a:srgbClr val="1B1F3B"/>
                </a:solidFill>
                <a:latin typeface="Segoe UI"/>
              </a:defRPr>
            </a:pPr>
            <a:r>
              <a:t>Датчики агрегатов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19450" y="1847850"/>
            <a:ext cx="26670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50" b="1">
                <a:solidFill>
                  <a:srgbClr val="1B1F3B"/>
                </a:solidFill>
                <a:latin typeface="Segoe UI"/>
              </a:defRPr>
            </a:pPr>
            <a:r>
              <a:t>Штатная SCADA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19800" y="1847850"/>
            <a:ext cx="26670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50" b="1">
                <a:solidFill>
                  <a:srgbClr val="FFFFFF"/>
                </a:solidFill>
                <a:latin typeface="Segoe UI"/>
              </a:defRPr>
            </a:pPr>
            <a:r>
              <a:t>Шлюз Read-Only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0150" y="1847850"/>
            <a:ext cx="26670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50" b="1">
                <a:solidFill>
                  <a:srgbClr val="FFFFFF"/>
                </a:solidFill>
                <a:latin typeface="Segoe UI"/>
              </a:defRPr>
            </a:pPr>
            <a:r>
              <a:t>Перехват за 72 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150" y="3562350"/>
            <a:ext cx="2667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50" b="1">
                <a:solidFill>
                  <a:srgbClr val="1B1F3B"/>
                </a:solidFill>
                <a:latin typeface="Segoe UI"/>
              </a:defRPr>
            </a:pPr>
            <a:r>
              <a:t>Вибрация, давление,</a:t>
            </a:r>
          </a:p>
          <a:p>
            <a:pPr algn="ctr">
              <a:defRPr sz="1350" b="1">
                <a:solidFill>
                  <a:srgbClr val="1B1F3B"/>
                </a:solidFill>
                <a:latin typeface="Segoe UI"/>
              </a:defRPr>
            </a:pPr>
            <a:r>
              <a:t>ток, температура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150" y="4114800"/>
            <a:ext cx="2667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непрерывный съем</a:t>
            </a:r>
          </a:p>
          <a:p>
            <a:pPr algn="ctr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с 4 агрегатов линии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9450" y="3562350"/>
            <a:ext cx="2667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50" b="1">
                <a:solidFill>
                  <a:srgbClr val="1B1F3B"/>
                </a:solidFill>
                <a:latin typeface="Segoe UI"/>
              </a:defRPr>
            </a:pPr>
            <a:r>
              <a:t>OPC UA • Modbus TCP</a:t>
            </a:r>
          </a:p>
          <a:p>
            <a:pPr algn="ctr">
              <a:defRPr sz="1350" b="1">
                <a:solidFill>
                  <a:srgbClr val="1B1F3B"/>
                </a:solidFill>
                <a:latin typeface="Segoe UI"/>
              </a:defRPr>
            </a:pPr>
            <a:r>
              <a:t>ПЛК и контроллеры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19450" y="4114800"/>
            <a:ext cx="2667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штатная система видит</a:t>
            </a:r>
          </a:p>
          <a:p>
            <a:pPr algn="ctr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только поздний перегрев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9800" y="3562350"/>
            <a:ext cx="2667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50" b="1">
                <a:solidFill>
                  <a:srgbClr val="1B1F3B"/>
                </a:solidFill>
                <a:latin typeface="Segoe UI"/>
              </a:defRPr>
            </a:pPr>
            <a:r>
              <a:t>Одностороннее чтение</a:t>
            </a:r>
          </a:p>
          <a:p>
            <a:pPr algn="ctr">
              <a:defRPr sz="1350" b="1">
                <a:solidFill>
                  <a:srgbClr val="1B1F3B"/>
                </a:solidFill>
                <a:latin typeface="Segoe UI"/>
              </a:defRPr>
            </a:pPr>
            <a:r>
              <a:t>без команд в ПЛК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19800" y="4114800"/>
            <a:ext cx="2667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0% риска вмешательства</a:t>
            </a:r>
          </a:p>
          <a:p>
            <a:pPr algn="ctr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в техпроцесс завода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0150" y="3562350"/>
            <a:ext cx="2667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50" b="1">
                <a:solidFill>
                  <a:srgbClr val="1B1F3B"/>
                </a:solidFill>
                <a:latin typeface="Segoe UI"/>
              </a:defRPr>
            </a:pPr>
            <a:r>
              <a:t>Ранний прогноз ИИ</a:t>
            </a:r>
          </a:p>
          <a:p>
            <a:pPr algn="ctr">
              <a:defRPr sz="1350" b="1">
                <a:solidFill>
                  <a:srgbClr val="1B1F3B"/>
                </a:solidFill>
                <a:latin typeface="Segoe UI"/>
              </a:defRPr>
            </a:pPr>
            <a:r>
              <a:t>Защита от простоев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0150" y="4114800"/>
            <a:ext cx="2667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таймер RUL в часах</a:t>
            </a:r>
          </a:p>
          <a:p>
            <a:pPr algn="ctr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и кнопка стабилизации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3950" y="5543550"/>
            <a:ext cx="106680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50" b="1">
                <a:solidFill>
                  <a:srgbClr val="1B1F3B"/>
                </a:solidFill>
                <a:latin typeface="Segoe UI"/>
              </a:defRPr>
            </a:pPr>
            <a:r>
              <a:t>Безопасный закрытый контур — полное соответствие Указу «Digital Qazaqstan» (09.06.2026) и МЭК 62443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6305550"/>
            <a:ext cx="6019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6C738F"/>
                </a:solidFill>
                <a:latin typeface="Segoe UI"/>
              </a:defRPr>
            </a:pPr>
            <a:r>
              <a:t>AI-PromPlatform • Архитектура промышленной безопасности Read-Only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419100"/>
            <a:ext cx="240030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50" b="1">
                <a:solidFill>
                  <a:srgbClr val="3545D8"/>
                </a:solidFill>
                <a:latin typeface="Segoe UI"/>
              </a:defRPr>
            </a:pPr>
            <a:r>
              <a:t>03 • МУЛЬТИАГЕНТНАЯ ПАУТИНА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704850"/>
            <a:ext cx="111633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50" b="1">
                <a:solidFill>
                  <a:srgbClr val="1B1F3B"/>
                </a:solidFill>
                <a:latin typeface="Segoe UI"/>
              </a:defRPr>
            </a:pPr>
            <a:r>
              <a:t>За каждым отделом следит своя команда агентов —</a:t>
            </a:r>
          </a:p>
          <a:p>
            <a:pPr algn="l">
              <a:defRPr sz="2250" b="1">
                <a:solidFill>
                  <a:srgbClr val="1B1F3B"/>
                </a:solidFill>
                <a:latin typeface="Segoe UI"/>
              </a:defRPr>
            </a:pPr>
            <a:r>
              <a:t>Мастер-Модель принимает только главное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447800"/>
            <a:ext cx="107823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6C738F"/>
                </a:solidFill>
                <a:latin typeface="Segoe UI"/>
              </a:defRPr>
            </a:pPr>
            <a:r>
              <a:t>Иерархическая паутина ИИ: локальные агенты гасят 99% фоновой мелочи на узлах, защищая Центр от перегрузки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1924049"/>
            <a:ext cx="30099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1B1F3B"/>
                </a:solidFill>
                <a:latin typeface="Segoe UI"/>
              </a:defRPr>
            </a:pPr>
            <a:r>
              <a:t>Отдел 1 • Насосная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2122170"/>
            <a:ext cx="30099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1">
                <a:solidFill>
                  <a:srgbClr val="3545D8"/>
                </a:solidFill>
                <a:latin typeface="Segoe UI"/>
              </a:defRPr>
            </a:pPr>
            <a:r>
              <a:t>Агрегат ЦНС-180 (PUMP-101)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850" y="2373630"/>
            <a:ext cx="33147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Агенты давления и кавитации</a:t>
            </a:r>
          </a:p>
          <a:p>
            <a:pPr algn="l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гасят фоновую рябь потока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2846070"/>
            <a:ext cx="3314700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50" b="1">
                <a:solidFill>
                  <a:srgbClr val="109152"/>
                </a:solidFill>
                <a:latin typeface="Segoe UI"/>
              </a:defRPr>
            </a:pPr>
            <a:r>
              <a:t>Локальный фильтр: 99% шума отсечено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3829050"/>
            <a:ext cx="30099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1B1F3B"/>
                </a:solidFill>
                <a:latin typeface="Segoe UI"/>
              </a:defRPr>
            </a:pPr>
            <a:r>
              <a:t>Отдел 2 • Электроприводы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4027170"/>
            <a:ext cx="30099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1">
                <a:solidFill>
                  <a:srgbClr val="3545D8"/>
                </a:solidFill>
                <a:latin typeface="Segoe UI"/>
              </a:defRPr>
            </a:pPr>
            <a:r>
              <a:t>Двигатель АИР-315 (MOTOR-204)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" y="4278630"/>
            <a:ext cx="33147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Агенты вибродиагностики и тока</a:t>
            </a:r>
          </a:p>
          <a:p>
            <a:pPr algn="l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фильтруют пусковые скачки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450" y="4751070"/>
            <a:ext cx="3314700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50" b="1">
                <a:solidFill>
                  <a:srgbClr val="109152"/>
                </a:solidFill>
                <a:latin typeface="Segoe UI"/>
              </a:defRPr>
            </a:pPr>
            <a:r>
              <a:t>Локальный фильтр: 99% шума отсечено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39200" y="1924049"/>
            <a:ext cx="30099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1B1F3B"/>
                </a:solidFill>
                <a:latin typeface="Segoe UI"/>
              </a:defRPr>
            </a:pPr>
            <a:r>
              <a:t>Отдел 3 • Компрессорная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9200" y="2122170"/>
            <a:ext cx="30099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1">
                <a:solidFill>
                  <a:srgbClr val="3545D8"/>
                </a:solidFill>
                <a:latin typeface="Segoe UI"/>
              </a:defRPr>
            </a:pPr>
            <a:r>
              <a:t>Компрессор ВП3-20 (COMP-302)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0" y="2373630"/>
            <a:ext cx="33147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Агенты термоконтроля клапанов</a:t>
            </a:r>
          </a:p>
          <a:p>
            <a:pPr algn="l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отсекают сезонный нагрев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4849" y="2846070"/>
            <a:ext cx="3314700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50" b="1">
                <a:solidFill>
                  <a:srgbClr val="109152"/>
                </a:solidFill>
                <a:latin typeface="Segoe UI"/>
              </a:defRPr>
            </a:pPr>
            <a:r>
              <a:t>Локальный фильтр: 99% шума отсечено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9200" y="3829050"/>
            <a:ext cx="30099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1B1F3B"/>
                </a:solidFill>
                <a:latin typeface="Segoe UI"/>
              </a:defRPr>
            </a:pPr>
            <a:r>
              <a:t>Отдел 4 • Конвейеры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39200" y="4027170"/>
            <a:ext cx="30099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1">
                <a:solidFill>
                  <a:srgbClr val="3545D8"/>
                </a:solidFill>
                <a:latin typeface="Segoe UI"/>
              </a:defRPr>
            </a:pPr>
            <a:r>
              <a:t>Привод ленты ПЛ-12 (DRIVE-405)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0" y="4278630"/>
            <a:ext cx="33147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Агенты натяжения и редукторов</a:t>
            </a:r>
          </a:p>
          <a:p>
            <a:pPr algn="l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гасят вибрацию стыков ленты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4849" y="4751070"/>
            <a:ext cx="3314700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50" b="1">
                <a:solidFill>
                  <a:srgbClr val="109152"/>
                </a:solidFill>
                <a:latin typeface="Segoe UI"/>
              </a:defRPr>
            </a:pPr>
            <a:r>
              <a:t>Локальный фильтр: 99% шума отсечено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0000" y="2693670"/>
            <a:ext cx="148590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50" b="1">
                <a:solidFill>
                  <a:srgbClr val="3545D8"/>
                </a:solidFill>
                <a:latin typeface="Segoe UI"/>
              </a:defRPr>
            </a:pPr>
            <a:r>
              <a:t>1% вектор угрозы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0000" y="3989070"/>
            <a:ext cx="148590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50" b="1">
                <a:solidFill>
                  <a:srgbClr val="3545D8"/>
                </a:solidFill>
                <a:latin typeface="Segoe UI"/>
              </a:defRPr>
            </a:pPr>
            <a:r>
              <a:t>1% вектор угрозы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6100" y="2693670"/>
            <a:ext cx="148590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50" b="1">
                <a:solidFill>
                  <a:srgbClr val="3545D8"/>
                </a:solidFill>
                <a:latin typeface="Segoe UI"/>
              </a:defRPr>
            </a:pPr>
            <a:r>
              <a:t>1% вектор угрозы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96100" y="3989070"/>
            <a:ext cx="148590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50" b="1">
                <a:solidFill>
                  <a:srgbClr val="3545D8"/>
                </a:solidFill>
                <a:latin typeface="Segoe UI"/>
              </a:defRPr>
            </a:pPr>
            <a:r>
              <a:t>1% вектор угрозы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43500" y="3200400"/>
            <a:ext cx="1905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МАСТЕР-МОДЕЛЬ</a:t>
            </a:r>
          </a:p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КООРДИНАТОР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1600" y="3581400"/>
            <a:ext cx="18288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C6D0FF"/>
                </a:solidFill>
                <a:latin typeface="Segoe UI"/>
              </a:defRPr>
            </a:pPr>
            <a:r>
              <a:t>Принимает только</a:t>
            </a:r>
          </a:p>
          <a:p>
            <a:pPr algn="ctr">
              <a:defRPr sz="1000" b="0">
                <a:solidFill>
                  <a:srgbClr val="C6D0FF"/>
                </a:solidFill>
                <a:latin typeface="Segoe UI"/>
              </a:defRPr>
            </a:pPr>
            <a:r>
              <a:t>подтвержденные сбои,</a:t>
            </a:r>
          </a:p>
          <a:p>
            <a:pPr algn="ctr">
              <a:defRPr sz="1000" b="0">
                <a:solidFill>
                  <a:srgbClr val="C6D0FF"/>
                </a:solidFill>
                <a:latin typeface="Segoe UI"/>
              </a:defRPr>
            </a:pPr>
            <a:r>
              <a:t>считает ресурс RUL</a:t>
            </a:r>
          </a:p>
          <a:p>
            <a:pPr algn="ctr">
              <a:defRPr sz="1000" b="0">
                <a:solidFill>
                  <a:srgbClr val="C6D0FF"/>
                </a:solidFill>
                <a:latin typeface="Segoe UI"/>
              </a:defRPr>
            </a:pPr>
            <a:r>
              <a:t>и выдает решение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3950" y="5543550"/>
            <a:ext cx="106680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50" b="1">
                <a:solidFill>
                  <a:srgbClr val="1B1F3B"/>
                </a:solidFill>
                <a:latin typeface="Segoe UI"/>
              </a:defRPr>
            </a:pPr>
            <a:r>
              <a:t>Распределенная паутина ИИ — нагрузка на центральный сервер ниже в 100 раз, отклик системы менее 0.2 сек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400" y="6305550"/>
            <a:ext cx="6400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6C738F"/>
                </a:solidFill>
                <a:latin typeface="Segoe UI"/>
              </a:defRPr>
            </a:pPr>
            <a:r>
              <a:t>AI-PromPlatform • Мультиагентная архитектура фильтрации промышленной телеметрии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419100"/>
            <a:ext cx="220980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50" b="1">
                <a:solidFill>
                  <a:srgbClr val="3545D8"/>
                </a:solidFill>
                <a:latin typeface="Segoe UI"/>
              </a:defRPr>
            </a:pPr>
            <a:r>
              <a:t>04 • МАТЕМАТИЧЕСКОЕ ЯДРО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704850"/>
            <a:ext cx="107823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50" b="1">
                <a:solidFill>
                  <a:srgbClr val="1B1F3B"/>
                </a:solidFill>
                <a:latin typeface="Segoe UI"/>
              </a:defRPr>
            </a:pPr>
            <a:r>
              <a:t>Ансамбль из 3 моделей выявляет причину сбоя</a:t>
            </a:r>
          </a:p>
          <a:p>
            <a:pPr algn="l">
              <a:defRPr sz="2250" b="1">
                <a:solidFill>
                  <a:srgbClr val="1B1F3B"/>
                </a:solidFill>
                <a:latin typeface="Segoe UI"/>
              </a:defRPr>
            </a:pPr>
            <a:r>
              <a:t>и рассчитывает точный остаточный ресурс (RUL)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447800"/>
            <a:ext cx="104013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6C738F"/>
                </a:solidFill>
                <a:latin typeface="Segoe UI"/>
              </a:defRPr>
            </a:pPr>
            <a:r>
              <a:t>Четыре ступени верификации сигнала с модулем объяснимого ИИ (Explainable AI) для главного инженера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150" y="1847850"/>
            <a:ext cx="26670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50" b="1">
                <a:solidFill>
                  <a:srgbClr val="1B1F3B"/>
                </a:solidFill>
                <a:latin typeface="Segoe UI"/>
              </a:defRPr>
            </a:pPr>
            <a:r>
              <a:t>Съем и дельты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19450" y="1847850"/>
            <a:ext cx="26670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50" b="1">
                <a:solidFill>
                  <a:srgbClr val="1B1F3B"/>
                </a:solidFill>
                <a:latin typeface="Segoe UI"/>
              </a:defRPr>
            </a:pPr>
            <a:r>
              <a:t>Isolation Forest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19800" y="1847850"/>
            <a:ext cx="26670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50" b="1">
                <a:solidFill>
                  <a:srgbClr val="FFFFFF"/>
                </a:solidFill>
                <a:latin typeface="Segoe UI"/>
              </a:defRPr>
            </a:pPr>
            <a:r>
              <a:t>Random Forest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0150" y="1847850"/>
            <a:ext cx="26670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50" b="1">
                <a:solidFill>
                  <a:srgbClr val="FFFFFF"/>
                </a:solidFill>
                <a:latin typeface="Segoe UI"/>
              </a:defRPr>
            </a:pPr>
            <a:r>
              <a:t>XGBoost + XAI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150" y="3562350"/>
            <a:ext cx="2667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50" b="1">
                <a:solidFill>
                  <a:srgbClr val="1B1F3B"/>
                </a:solidFill>
                <a:latin typeface="Segoe UI"/>
              </a:defRPr>
            </a:pPr>
            <a:r>
              <a:t>Скользящее окно</a:t>
            </a:r>
          </a:p>
          <a:p>
            <a:pPr algn="ctr">
              <a:defRPr sz="1350" b="1">
                <a:solidFill>
                  <a:srgbClr val="1B1F3B"/>
                </a:solidFill>
                <a:latin typeface="Segoe UI"/>
              </a:defRPr>
            </a:pPr>
            <a:r>
              <a:t>и градиенты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150" y="4095750"/>
            <a:ext cx="2667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расчет скорости роста</a:t>
            </a:r>
          </a:p>
          <a:p>
            <a:pPr algn="ctr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вибрации и температуры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4781550"/>
            <a:ext cx="1943100" cy="2476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50" b="1">
                <a:solidFill>
                  <a:srgbClr val="3545D8"/>
                </a:solidFill>
                <a:latin typeface="Segoe UI"/>
              </a:defRPr>
            </a:pPr>
            <a:r>
              <a:t>12 признаков • 60 мин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19450" y="3562350"/>
            <a:ext cx="2667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50" b="1">
                <a:solidFill>
                  <a:srgbClr val="1B1F3B"/>
                </a:solidFill>
                <a:latin typeface="Segoe UI"/>
              </a:defRPr>
            </a:pPr>
            <a:r>
              <a:t>Узловой фильтр</a:t>
            </a:r>
          </a:p>
          <a:p>
            <a:pPr algn="ctr">
              <a:defRPr sz="1350" b="1">
                <a:solidFill>
                  <a:srgbClr val="1B1F3B"/>
                </a:solidFill>
                <a:latin typeface="Segoe UI"/>
              </a:defRPr>
            </a:pPr>
            <a:r>
              <a:t>аномалий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9450" y="4095750"/>
            <a:ext cx="2667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отсекает фоновый шум</a:t>
            </a:r>
          </a:p>
          <a:p>
            <a:pPr algn="ctr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на уровне отдела цеха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1400" y="4781550"/>
            <a:ext cx="1943100" cy="2476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50" b="1">
                <a:solidFill>
                  <a:srgbClr val="3545D8"/>
                </a:solidFill>
                <a:latin typeface="Segoe UI"/>
              </a:defRPr>
            </a:pPr>
            <a:r>
              <a:t>Точность отсева 98.52%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9800" y="3562350"/>
            <a:ext cx="2667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50" b="1">
                <a:solidFill>
                  <a:srgbClr val="1B1F3B"/>
                </a:solidFill>
                <a:latin typeface="Segoe UI"/>
              </a:defRPr>
            </a:pPr>
            <a:r>
              <a:t>Классификация</a:t>
            </a:r>
          </a:p>
          <a:p>
            <a:pPr algn="ctr">
              <a:defRPr sz="1350" b="1">
                <a:solidFill>
                  <a:srgbClr val="1B1F3B"/>
                </a:solidFill>
                <a:latin typeface="Segoe UI"/>
              </a:defRPr>
            </a:pPr>
            <a:r>
              <a:t>причины угрозы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9800" y="4095750"/>
            <a:ext cx="2667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распознает износ, клин,</a:t>
            </a:r>
          </a:p>
          <a:p>
            <a:pPr algn="ctr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кавитацию и перегрев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1750" y="4781550"/>
            <a:ext cx="1943100" cy="2476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50" b="1">
                <a:solidFill>
                  <a:srgbClr val="3545D8"/>
                </a:solidFill>
                <a:latin typeface="Segoe UI"/>
              </a:defRPr>
            </a:pPr>
            <a:r>
              <a:t>Accuracy 99.89%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0150" y="3562350"/>
            <a:ext cx="2667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50" b="1">
                <a:solidFill>
                  <a:srgbClr val="1B1F3B"/>
                </a:solidFill>
                <a:latin typeface="Segoe UI"/>
              </a:defRPr>
            </a:pPr>
            <a:r>
              <a:t>Прогноз часов RUL</a:t>
            </a:r>
          </a:p>
          <a:p>
            <a:pPr algn="ctr">
              <a:defRPr sz="1350" b="1">
                <a:solidFill>
                  <a:srgbClr val="1B1F3B"/>
                </a:solidFill>
                <a:latin typeface="Segoe UI"/>
              </a:defRPr>
            </a:pPr>
            <a:r>
              <a:t>и вклад датчиков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0150" y="4095750"/>
            <a:ext cx="2667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точный таймер до отказа</a:t>
            </a:r>
          </a:p>
          <a:p>
            <a:pPr algn="ctr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и объяснение причины в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2100" y="4781550"/>
            <a:ext cx="1943100" cy="2476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50" b="1">
                <a:solidFill>
                  <a:srgbClr val="3545D8"/>
                </a:solidFill>
                <a:latin typeface="Segoe UI"/>
              </a:defRPr>
            </a:pPr>
            <a:r>
              <a:t>R² = 0.9735 • XAI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3950" y="5543550"/>
            <a:ext cx="106680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50" b="1">
                <a:solidFill>
                  <a:srgbClr val="1B1F3B"/>
                </a:solidFill>
                <a:latin typeface="Segoe UI"/>
              </a:defRPr>
            </a:pPr>
            <a:r>
              <a:t>Никакого «чёрного ящика» — оператор видит точный вклад каждого датчика (вибрация 54%, нагрев 31%, ток 15%)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00" y="6305550"/>
            <a:ext cx="6019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6C738F"/>
                </a:solidFill>
                <a:latin typeface="Segoe UI"/>
              </a:defRPr>
            </a:pPr>
            <a:r>
              <a:t>AI-PromPlatform • Валидация на выборке 8 000 промышленных циклов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514350"/>
            <a:ext cx="2743200" cy="2209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50" b="1">
                <a:solidFill>
                  <a:srgbClr val="BECAFF"/>
                </a:solidFill>
                <a:latin typeface="Segoe UI"/>
              </a:defRPr>
            </a:pPr>
            <a:r>
              <a:t>05 • ИНТЕРАКТИВНЫЙ ПРОТОТИП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914400"/>
            <a:ext cx="4953000" cy="1066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Живая демонстрация:</a:t>
            </a:r>
          </a:p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симуляция угрозы, перехват</a:t>
            </a:r>
          </a:p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и выравнивание в 1 клик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" y="2225040"/>
            <a:ext cx="42291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1. Симуляция скрытой угрозы на узле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" y="2423160"/>
            <a:ext cx="42291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B9C4EB"/>
                </a:solidFill>
                <a:latin typeface="Segoe UI"/>
              </a:defRPr>
            </a:pPr>
            <a:r>
              <a:t>Запуск деградации подшипника или кавитации.</a:t>
            </a:r>
          </a:p>
          <a:p>
            <a:pPr algn="l">
              <a:defRPr sz="1050" b="0">
                <a:solidFill>
                  <a:srgbClr val="B9C4EB"/>
                </a:solidFill>
                <a:latin typeface="Segoe UI"/>
              </a:defRPr>
            </a:pPr>
            <a:r>
              <a:t>Штатная SCADA молчит — порог еще не пробит.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" y="2987040"/>
            <a:ext cx="42291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2. Перехват ИИ и обратный отсчет RUL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3950" y="3185160"/>
            <a:ext cx="42291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B9C4EB"/>
                </a:solidFill>
                <a:latin typeface="Segoe UI"/>
              </a:defRPr>
            </a:pPr>
            <a:r>
              <a:t>Мгновенное уведомление: «Через 77.3 ч авария!»</a:t>
            </a:r>
          </a:p>
          <a:p>
            <a:pPr algn="l">
              <a:defRPr sz="1050" b="0">
                <a:solidFill>
                  <a:srgbClr val="B9C4EB"/>
                </a:solidFill>
                <a:latin typeface="Segoe UI"/>
              </a:defRPr>
            </a:pPr>
            <a:r>
              <a:t>Риск отказа 100%, указана точная причина.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950" y="3749039"/>
            <a:ext cx="42291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3. Кнопка «Исправить» и выравнивание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50" y="3947160"/>
            <a:ext cx="42291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B9C4EB"/>
                </a:solidFill>
                <a:latin typeface="Segoe UI"/>
              </a:defRPr>
            </a:pPr>
            <a:r>
              <a:t>Автоматический перевод нагрузки на резерв.</a:t>
            </a:r>
          </a:p>
          <a:p>
            <a:pPr algn="l">
              <a:defRPr sz="1050" b="0">
                <a:solidFill>
                  <a:srgbClr val="B9C4EB"/>
                </a:solidFill>
                <a:latin typeface="Segoe UI"/>
              </a:defRPr>
            </a:pPr>
            <a:r>
              <a:t>Графики вибрации и нагрева возвращаются в норму.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4667250"/>
            <a:ext cx="17907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1">
                <a:solidFill>
                  <a:srgbClr val="00E5FF"/>
                </a:solidFill>
                <a:latin typeface="Segoe UI"/>
              </a:defRPr>
            </a:pPr>
            <a:r>
              <a:t>2.37 мм/с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5086350"/>
            <a:ext cx="1790700" cy="2476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AFBAE1"/>
                </a:solidFill>
                <a:latin typeface="Segoe UI"/>
              </a:defRPr>
            </a:pPr>
            <a:r>
              <a:t>норма после 5.62 мм/с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4667250"/>
            <a:ext cx="1866899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204.1 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14550" y="5086350"/>
            <a:ext cx="1866899" cy="2476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AFBAE1"/>
                </a:solidFill>
                <a:latin typeface="Segoe UI"/>
              </a:defRPr>
            </a:pPr>
            <a:r>
              <a:t>восстановленный ресурс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2850" y="4667250"/>
            <a:ext cx="1714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1">
                <a:solidFill>
                  <a:srgbClr val="00D26A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52850" y="5086350"/>
            <a:ext cx="1714500" cy="2476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AFBAE1"/>
                </a:solidFill>
                <a:latin typeface="Segoe UI"/>
              </a:defRPr>
            </a:pPr>
            <a:r>
              <a:t>риск после стабилизации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0250" y="4857750"/>
            <a:ext cx="2133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6C738F"/>
                </a:solidFill>
                <a:latin typeface="Segoe UI"/>
              </a:defRPr>
            </a:pPr>
            <a:r>
              <a:t>результат стабилизации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10250" y="5059680"/>
            <a:ext cx="21336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1B1F3B"/>
                </a:solidFill>
                <a:latin typeface="Segoe UI"/>
              </a:defRPr>
            </a:pPr>
            <a:r>
              <a:t>Параметры в норме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6153150"/>
            <a:ext cx="48768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919CC8"/>
                </a:solidFill>
                <a:latin typeface="Segoe UI"/>
              </a:defRPr>
            </a:pPr>
            <a:r>
              <a:t>Демонстрационный стенд работает локально в реальном времени (Streamlit + Plotly)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419100"/>
            <a:ext cx="228600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50" b="1">
                <a:solidFill>
                  <a:srgbClr val="3545D8"/>
                </a:solidFill>
                <a:latin typeface="Segoe UI"/>
              </a:defRPr>
            </a:pPr>
            <a:r>
              <a:t>06 • ВНЕДРЕНИЕ И ЭКОНОМИКА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704850"/>
            <a:ext cx="104013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350" b="1">
                <a:solidFill>
                  <a:srgbClr val="1B1F3B"/>
                </a:solidFill>
                <a:latin typeface="Segoe UI"/>
              </a:defRPr>
            </a:pPr>
            <a:r>
              <a:t>Как проходит подключение к заводу и экономический эффект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123950"/>
            <a:ext cx="9829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6C738F"/>
                </a:solidFill>
                <a:latin typeface="Segoe UI"/>
              </a:defRPr>
            </a:pPr>
            <a:r>
              <a:t>Пилот на одном цехе за 14 дней с масштабированием паутины ИИ-агентов на всё предприятие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786890"/>
            <a:ext cx="655320" cy="350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95600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50" b="1">
                <a:solidFill>
                  <a:srgbClr val="1B1F3B"/>
                </a:solidFill>
                <a:latin typeface="Segoe UI"/>
              </a:defRPr>
            </a:pPr>
            <a:r>
              <a:t>Доступ к системе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81350"/>
            <a:ext cx="20574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Подключение шлюза</a:t>
            </a:r>
          </a:p>
          <a:p>
            <a:pPr algn="l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Read-Only к штатной</a:t>
            </a:r>
          </a:p>
          <a:p>
            <a:pPr algn="l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SCADA и ПЛК завода</a:t>
            </a:r>
          </a:p>
          <a:p>
            <a:pPr algn="l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по OPC UA / Modbus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1390" y="1710690"/>
            <a:ext cx="655320" cy="350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52750" y="2819400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50" b="1">
                <a:solidFill>
                  <a:srgbClr val="1B1F3B"/>
                </a:solidFill>
                <a:latin typeface="Segoe UI"/>
              </a:defRPr>
            </a:pPr>
            <a:r>
              <a:t>Выгрузка данных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2750" y="3105150"/>
            <a:ext cx="20574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Импорт архивов</a:t>
            </a:r>
          </a:p>
          <a:p>
            <a:pPr algn="l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телеметрии и журналов</a:t>
            </a:r>
          </a:p>
          <a:p>
            <a:pPr algn="l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отказов из базы/Excel,</a:t>
            </a:r>
          </a:p>
          <a:p>
            <a:pPr algn="l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разметка датчиков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8340" y="1634490"/>
            <a:ext cx="655320" cy="350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9700" y="2743200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50" b="1">
                <a:solidFill>
                  <a:srgbClr val="1B1F3B"/>
                </a:solidFill>
                <a:latin typeface="Segoe UI"/>
              </a:defRPr>
            </a:pPr>
            <a:r>
              <a:t>Узловые агенты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9700" y="3028950"/>
            <a:ext cx="20574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Установка легких</a:t>
            </a:r>
          </a:p>
          <a:p>
            <a:pPr algn="l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ИИ-агентов в Docker</a:t>
            </a:r>
          </a:p>
          <a:p>
            <a:pPr algn="l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по отделам цеха и</a:t>
            </a:r>
          </a:p>
          <a:p>
            <a:pPr algn="l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калибровка нормы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5290" y="1558290"/>
            <a:ext cx="655320" cy="350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86650" y="2667000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50" b="1">
                <a:solidFill>
                  <a:srgbClr val="1B1F3B"/>
                </a:solidFill>
                <a:latin typeface="Segoe UI"/>
              </a:defRPr>
            </a:pPr>
            <a:r>
              <a:t>Мастер-модель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86650" y="2952750"/>
            <a:ext cx="20574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Сборка паутины ИИ,</a:t>
            </a:r>
          </a:p>
          <a:p>
            <a:pPr algn="l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запуск расчета RUL</a:t>
            </a:r>
          </a:p>
          <a:p>
            <a:pPr algn="l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и интеграция алертов</a:t>
            </a:r>
          </a:p>
          <a:p>
            <a:pPr algn="l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с системой ТОиР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02240" y="1482090"/>
            <a:ext cx="655320" cy="350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53600" y="2590800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50" b="1">
                <a:solidFill>
                  <a:srgbClr val="1B1F3B"/>
                </a:solidFill>
                <a:latin typeface="Segoe UI"/>
              </a:defRPr>
            </a:pPr>
            <a:r>
              <a:t>Экономия 24/7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3600" y="2876550"/>
            <a:ext cx="20574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Плановый сервис за</a:t>
            </a:r>
          </a:p>
          <a:p>
            <a:pPr algn="l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185 тыс. ₸ вместо</a:t>
            </a:r>
          </a:p>
          <a:p>
            <a:pPr algn="l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аварийного простоя</a:t>
            </a:r>
          </a:p>
          <a:p>
            <a:pPr algn="l">
              <a:defRPr sz="1150" b="0">
                <a:solidFill>
                  <a:srgbClr val="6C738F"/>
                </a:solidFill>
                <a:latin typeface="Segoe UI"/>
              </a:defRPr>
            </a:pPr>
            <a:r>
              <a:t>цеха на 57,7 млн 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505450"/>
            <a:ext cx="10668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Экономический эффект — 57,5 млн ₸ экономии на одном сбое и снижение простоев на 30–40%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6305550"/>
            <a:ext cx="6781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6C738F"/>
                </a:solidFill>
                <a:latin typeface="Segoe UI"/>
              </a:defRPr>
            </a:pPr>
            <a:r>
              <a:t>AI-PromPlatform • Расчет эффекта для непрерывной линии (120 т/ч) • Хакатон AI-SANA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